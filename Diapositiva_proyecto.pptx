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67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4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8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9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73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0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51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1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9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10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60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990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54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29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23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2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994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scapnet.es/" TargetMode="External"/><Relationship Id="rId2" Type="http://schemas.openxmlformats.org/officeDocument/2006/relationships/hyperlink" Target="https://www.iamhable.com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Imagen que contiene botiquín de primeros auxilios, objeto, dibujo, firmarDescripción generada automáticamente, Picture"/>
          <p:cNvPicPr/>
          <p:nvPr/>
        </p:nvPicPr>
        <p:blipFill>
          <a:blip r:embed="rId2"/>
          <a:srcRect b="20846"/>
          <a:stretch>
            <a:fillRect/>
          </a:stretch>
        </p:blipFill>
        <p:spPr>
          <a:xfrm>
            <a:off x="314973" y="209208"/>
            <a:ext cx="4229100" cy="988695"/>
          </a:xfrm>
          <a:prstGeom prst="rect">
            <a:avLst/>
          </a:prstGeom>
          <a:ln/>
        </p:spPr>
      </p:pic>
      <p:sp>
        <p:nvSpPr>
          <p:cNvPr id="5" name="Rectángulo 4"/>
          <p:cNvSpPr/>
          <p:nvPr/>
        </p:nvSpPr>
        <p:spPr>
          <a:xfrm>
            <a:off x="-90071" y="1197903"/>
            <a:ext cx="9268287" cy="610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TECLADO BRAILLE ELECTRÓNICO </a:t>
            </a:r>
            <a:endParaRPr lang="es-ES" sz="4400" b="1" dirty="0" smtClean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4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PARA </a:t>
            </a:r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PERSONAS INVIDENTES</a:t>
            </a:r>
            <a:endParaRPr lang="es-ES" sz="4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    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PROFESOR:</a:t>
            </a: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     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MOTTA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ZORRILLA,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Bryan</a:t>
            </a:r>
            <a:endParaRPr lang="es-E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      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        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SECCIÓN:</a:t>
            </a:r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      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57410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         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ALUMNOS:</a:t>
            </a:r>
            <a:endParaRPr lang="es-E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				Ana Laurente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Cochachi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u21309590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Rodriguez </a:t>
            </a:r>
            <a:r>
              <a:rPr lang="es-E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Vega Yulehisy Lizbeth U21102080</a:t>
            </a:r>
            <a:endParaRPr lang="es-E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Imagen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96613" y="3879541"/>
            <a:ext cx="5490099" cy="27820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Imagen 6"/>
          <p:cNvPicPr/>
          <p:nvPr/>
        </p:nvPicPr>
        <p:blipFill>
          <a:blip r:embed="rId4"/>
          <a:stretch>
            <a:fillRect/>
          </a:stretch>
        </p:blipFill>
        <p:spPr>
          <a:xfrm rot="16200000">
            <a:off x="8646550" y="14954"/>
            <a:ext cx="2140717" cy="39396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1501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01133" y="159798"/>
            <a:ext cx="5462315" cy="57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2400" b="1" u="sng" dirty="0">
                <a:solidFill>
                  <a:srgbClr val="365F9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Planteamiento del Problema:</a:t>
            </a:r>
            <a:endParaRPr lang="es-E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70949" y="739380"/>
            <a:ext cx="2790187" cy="457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1.1 Realidad Problemática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70949" y="1318962"/>
            <a:ext cx="31684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1.2 Formulación del Problema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66410" y="1826793"/>
            <a:ext cx="2377574" cy="457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1.2.1 Problema General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270949" y="2716515"/>
            <a:ext cx="11687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Las personas con discapacidad visual enfrentan dificultades significativas para acceder a la escritura debido a la falta de dispositivos 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tecnológicos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68754" y="3656113"/>
            <a:ext cx="1127405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1.2.2 Problemas Específicos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1 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¿Cuál es el impacto del costo y la selección de componentes electrónicos en la viabilidad de fabricar un teclado Braille electrónico de bajo costo y funcionalidad adecuada?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2 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¿Cómo influye el diseño del sistema de control y la integración de hardware en el tiempo de respuesta del teclado Braille electrónico, comparado con dispositivos comerciales?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3 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¿De qué manera la precisión mecánica y la sincronización en la activación de los pines Braille afectan la confiabilidad y el rendimiento funcional del prototipo desarrollado?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387" y="571679"/>
            <a:ext cx="4020111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1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37351" y="301840"/>
            <a:ext cx="11674136" cy="5812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1.3 Objetivos del proyecto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s-ES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1.3.1 </a:t>
            </a:r>
            <a:r>
              <a:rPr lang="es-ES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Objetivo General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Diseñar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 construir un sistema Braille electrónico de bajo costo que permita a personas con discapacidad visual, escribir de forma autónoma.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s-ES" sz="16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          </a:t>
            </a:r>
            <a:r>
              <a:rPr lang="es-ES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1.3.2 </a:t>
            </a:r>
            <a:r>
              <a:rPr lang="es-ES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Objetivos Específicos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Objetivo especifico 1: Analizar el costo y la disponibilidad de los componentes electrónicos y materiales empleados en el diseño del teclado Braille, identificando alternativas que permitan reducir el costo sin sacrificar la funcionalidad.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Objetivo especifico 2: Evaluar el desempeño temporal del prototipo, midiendo el tiempo de respuesta del sistema ante la pulsación de teclas y comparando estos resultados con los estándares de teclados Braille comerciales.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Times New Roman" panose="02020603050405020304" pitchFamily="18" charset="0"/>
              <a:buChar char="-"/>
            </a:pPr>
            <a:r>
              <a:rPr lang="es-PE" dirty="0">
                <a:latin typeface="Times New Roman" panose="02020603050405020304" pitchFamily="18" charset="0"/>
                <a:ea typeface="Arial" panose="020B0604020202020204" pitchFamily="34" charset="0"/>
              </a:rPr>
              <a:t>Objetivo específico 3: Optimizar la precisión y sincronización en la activación de los pines Braille, implementando mejoras en el diseño mecánico y el sistema de control para incrementar la confiabilidad y el rendimiento del dispositivo</a:t>
            </a:r>
            <a:endParaRPr lang="es-E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7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u="sng" dirty="0" smtClean="0"/>
              <a:t/>
            </a:r>
            <a:br>
              <a:rPr lang="es-ES" b="1" u="sng" dirty="0" smtClean="0"/>
            </a:br>
            <a:r>
              <a:rPr lang="es-ES" b="1" u="sng" dirty="0" smtClean="0"/>
              <a:t>2</a:t>
            </a:r>
            <a:r>
              <a:rPr lang="es-ES" b="1" u="sng" dirty="0"/>
              <a:t>. Marco Teórico y Conceptual</a:t>
            </a:r>
            <a:r>
              <a:rPr lang="es-ES" dirty="0"/>
              <a:t/>
            </a:r>
            <a:br>
              <a:rPr lang="es-ES" dirty="0"/>
            </a:br>
            <a:r>
              <a:rPr lang="es-ES" b="1" dirty="0"/>
              <a:t> </a:t>
            </a:r>
            <a:r>
              <a:rPr lang="es-ES" dirty="0"/>
              <a:t/>
            </a:r>
            <a:br>
              <a:rPr lang="es-ES" dirty="0"/>
            </a:br>
            <a:r>
              <a:rPr lang="es-ES" b="1" u="sng" dirty="0" smtClean="0"/>
              <a:t>Antecedentes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1" y="2142067"/>
            <a:ext cx="11219154" cy="4045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Diversos estudios y desarrollos tecnológicos han buscado mejorar la accesibilidad para personas con discapacidad visual mediante sistemas electrónicos basados en el código Braille. </a:t>
            </a:r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>
              <a:buFontTx/>
              <a:buChar char="-"/>
            </a:pPr>
            <a:r>
              <a:rPr lang="es-ES" dirty="0" smtClean="0"/>
              <a:t>Por </a:t>
            </a:r>
            <a:r>
              <a:rPr lang="es-ES" dirty="0"/>
              <a:t>ejemplo, Orna (2019) diseñó un sistema electrónico capaz de convertir texto convencional a lenguaje Braille, empleando microcontroladores y pulsadores, lo que demostró la viabilidad técnica de estas soluciones en contextos educativos y sociales. </a:t>
            </a:r>
            <a:endParaRPr lang="es-ES" dirty="0" smtClean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- A </a:t>
            </a:r>
            <a:r>
              <a:rPr lang="es-ES" dirty="0"/>
              <a:t>nivel internacional, proyectos como el de IAMHABLE (2024) han mostrado que los teclados Braille electrónicos pueden facilitar la escritura y comunicación autónoma para personas invidentes, aunque la mayoría de los productos comerciales siguen siendo costosos y de difícil acceso en países en vías de desarrollo.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733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00150" y="271581"/>
            <a:ext cx="1140417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MARCO CONCEPTUAL </a:t>
            </a:r>
            <a:endParaRPr lang="es-ES" sz="1600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Teclado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Braille </a:t>
            </a: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Electrónico </a:t>
            </a:r>
          </a:p>
          <a:p>
            <a:pPr lv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endParaRPr lang="es-E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Microcontrolador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Arduino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UNO                      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Pantalla LCD </a:t>
            </a: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16x2                               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Pulsadores y Resistencias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Retroalimentación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Háptica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 </a:t>
            </a: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Auditiva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-  </a:t>
            </a:r>
            <a:r>
              <a:rPr lang="es-ES" sz="16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Accesibilidad Tecnológica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01" y="474237"/>
            <a:ext cx="4256551" cy="12979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81" y="2553970"/>
            <a:ext cx="3160831" cy="153905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536" y="2553970"/>
            <a:ext cx="3410426" cy="162900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107" y="2631022"/>
            <a:ext cx="2521939" cy="250920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6602" y="4964762"/>
            <a:ext cx="3727147" cy="180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9709" y="178289"/>
            <a:ext cx="10131425" cy="1456267"/>
          </a:xfrm>
        </p:spPr>
        <p:txBody>
          <a:bodyPr/>
          <a:lstStyle/>
          <a:p>
            <a:r>
              <a:rPr lang="es-ES" sz="2800" b="1" u="sng" dirty="0"/>
              <a:t>3. </a:t>
            </a:r>
            <a:r>
              <a:rPr lang="es-ES" sz="2800" b="1" u="sng" dirty="0" smtClean="0"/>
              <a:t>Variables medibles: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56" y="923109"/>
            <a:ext cx="7947070" cy="565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00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ángulo 3"/>
          <p:cNvSpPr/>
          <p:nvPr/>
        </p:nvSpPr>
        <p:spPr>
          <a:xfrm>
            <a:off x="278674" y="-3265140"/>
            <a:ext cx="11521440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ES" b="1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Hipótesis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del Problema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r>
              <a:rPr lang="es-ES" b="1" u="sng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Hipótesis </a:t>
            </a:r>
            <a:r>
              <a:rPr lang="es-ES" b="1" u="sng" dirty="0">
                <a:latin typeface="Times New Roman" panose="02020603050405020304" pitchFamily="18" charset="0"/>
                <a:ea typeface="Arial" panose="020B0604020202020204" pitchFamily="34" charset="0"/>
              </a:rPr>
              <a:t>general: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La 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implementación de un teclado Braille electrónico de bajo costo, con retroalimentación </a:t>
            </a:r>
            <a:r>
              <a:rPr lang="es-ES" dirty="0" err="1">
                <a:latin typeface="Times New Roman" panose="02020603050405020304" pitchFamily="18" charset="0"/>
                <a:ea typeface="Arial" panose="020B0604020202020204" pitchFamily="34" charset="0"/>
              </a:rPr>
              <a:t>háptica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, reducirá el tiempo de adaptación y la tasa de errores, y aumentará la velocidad de escritura y la satisfacción de los usuarios con discapacidad visual.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r>
              <a:rPr lang="es-ES" b="1" u="sng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Hipótesis </a:t>
            </a:r>
            <a:r>
              <a:rPr lang="es-ES" b="1" u="sng" dirty="0">
                <a:latin typeface="Times New Roman" panose="02020603050405020304" pitchFamily="18" charset="0"/>
                <a:ea typeface="Arial" panose="020B0604020202020204" pitchFamily="34" charset="0"/>
              </a:rPr>
              <a:t>específicas: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s-ES" b="1" dirty="0" err="1">
                <a:latin typeface="Times New Roman" panose="02020603050405020304" pitchFamily="18" charset="0"/>
                <a:ea typeface="Arial" panose="020B0604020202020204" pitchFamily="34" charset="0"/>
              </a:rPr>
              <a:t>Hipotesis</a:t>
            </a:r>
            <a:r>
              <a:rPr lang="es-ES" b="1" dirty="0">
                <a:latin typeface="Times New Roman" panose="02020603050405020304" pitchFamily="18" charset="0"/>
                <a:ea typeface="Arial" panose="020B0604020202020204" pitchFamily="34" charset="0"/>
              </a:rPr>
              <a:t> 1: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 El uso de componentes electrónicos seleccionados estratégicamente permitirá reducir el costo total del teclado Braille electrónico en al menos un 40% respecto a alternativas comerciales, sin comprometer la funcionalidad 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esencial.</a:t>
            </a:r>
            <a:endParaRPr lang="es-ES" sz="1600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s-ES" b="1" dirty="0" err="1" smtClean="0">
                <a:latin typeface="Times New Roman" panose="02020603050405020304" pitchFamily="18" charset="0"/>
                <a:ea typeface="Arial" panose="020B0604020202020204" pitchFamily="34" charset="0"/>
              </a:rPr>
              <a:t>Hipotesis</a:t>
            </a:r>
            <a:r>
              <a:rPr lang="es-ES" b="1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 2:</a:t>
            </a:r>
            <a:r>
              <a:rPr lang="es-ES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 El prototipo alcanzará un tiempo de respuesta igual o inferior a 200 milisegundos por pulsación, cumpliendo con los requisitos de usabilidad y eficiencia observados en dispositivos comerciales.</a:t>
            </a:r>
            <a:endParaRPr lang="es-ES" sz="1600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s-ES" b="1" dirty="0" err="1" smtClean="0">
                <a:latin typeface="Times New Roman" panose="02020603050405020304" pitchFamily="18" charset="0"/>
                <a:ea typeface="Arial" panose="020B0604020202020204" pitchFamily="34" charset="0"/>
              </a:rPr>
              <a:t>Hipotesis</a:t>
            </a:r>
            <a:r>
              <a:rPr lang="es-ES" b="1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s-ES" b="1" dirty="0">
                <a:latin typeface="Times New Roman" panose="02020603050405020304" pitchFamily="18" charset="0"/>
                <a:ea typeface="Arial" panose="020B0604020202020204" pitchFamily="34" charset="0"/>
              </a:rPr>
              <a:t>3:</a:t>
            </a: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 La implementación de mejoras en la precisión mecánica y la sincronización logrará una tasa de error en la activación de pines Braille menor al 5% durante pruebas de funcionamiento continuo.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dirty="0">
                <a:latin typeface="Times New Roman" panose="02020603050405020304" pitchFamily="18" charset="0"/>
                <a:ea typeface="Arial" panose="020B0604020202020204" pitchFamily="34" charset="0"/>
              </a:rPr>
              <a:t> 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8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66140" y="196753"/>
            <a:ext cx="3743332" cy="457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3.3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Operacionalización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variables 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753" y="654508"/>
            <a:ext cx="8155737" cy="59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12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8750" y="653143"/>
            <a:ext cx="2632164" cy="209006"/>
          </a:xfrm>
        </p:spPr>
        <p:txBody>
          <a:bodyPr>
            <a:normAutofit fontScale="90000"/>
          </a:bodyPr>
          <a:lstStyle/>
          <a:p>
            <a:r>
              <a:rPr lang="es-ES" sz="2400" b="1" u="sng" smtClean="0"/>
              <a:t>4. Metodología:</a:t>
            </a:r>
            <a:r>
              <a:rPr lang="es-ES" smtClean="0"/>
              <a:t/>
            </a:r>
            <a:br>
              <a:rPr lang="es-ES" smtClean="0"/>
            </a:b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466823" y="727213"/>
            <a:ext cx="376898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Descripción </a:t>
            </a:r>
            <a:r>
              <a:rPr lang="es-ES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del enfoque metodológico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6302843" y="806318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Herramientas utilizadas en la implementación</a:t>
            </a:r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50" y="2383209"/>
            <a:ext cx="5315692" cy="237205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94" y="2383209"/>
            <a:ext cx="6220693" cy="187668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515" y="316045"/>
            <a:ext cx="2324424" cy="22863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000" y="862149"/>
            <a:ext cx="933580" cy="219106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8273" y="1437527"/>
            <a:ext cx="1714739" cy="20957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114" y="316045"/>
            <a:ext cx="1343212" cy="219106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087" y="1437291"/>
            <a:ext cx="1905266" cy="266737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466823" y="1647106"/>
            <a:ext cx="2454518" cy="457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Diagrama de Conexión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0471" y="5104586"/>
            <a:ext cx="5713163" cy="151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333" y="583475"/>
            <a:ext cx="4966061" cy="383176"/>
          </a:xfrm>
        </p:spPr>
        <p:txBody>
          <a:bodyPr>
            <a:normAutofit fontScale="90000"/>
          </a:bodyPr>
          <a:lstStyle/>
          <a:p>
            <a:r>
              <a:rPr lang="es-ES" sz="1800" b="1" u="sng" dirty="0"/>
              <a:t>5. METODOLOGÍA DEL DISEÑO ELECTRÓNICO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444136" y="775063"/>
            <a:ext cx="114169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Funcionamiento del circuito: 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-"/>
            </a:pP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Sistema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basado en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Arduino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que interpreta combinaciones de 6 puntos Braille mediante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pulsadores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-"/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Mapeo digital de patrones binarios a caracteres ASCII usando tablas de búsqueda (patrones y letras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-"/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Retardo de 1s en el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loop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principal para estabilización de señales (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delay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(1000))</a:t>
            </a:r>
            <a:endParaRPr lang="es-ES" sz="1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662" y="3528384"/>
            <a:ext cx="6845607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9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51350" y="153210"/>
            <a:ext cx="2963312" cy="4577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Creación de esquemáticos</a:t>
            </a:r>
            <a:endParaRPr lang="es-E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14" y="279125"/>
            <a:ext cx="5639587" cy="328658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88" y="4316573"/>
            <a:ext cx="7552578" cy="224821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514" y="3826825"/>
            <a:ext cx="2753109" cy="22863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23" y="872080"/>
            <a:ext cx="1409897" cy="342948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66663" y="1540438"/>
            <a:ext cx="361285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matriz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 pulsadores en configuración Braille estándar (2x3 + espacio) </a:t>
            </a:r>
            <a:endParaRPr lang="es-ES" sz="1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905" y="4595566"/>
            <a:ext cx="5134692" cy="28579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385" y="5160349"/>
            <a:ext cx="5134692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3520439" cy="374469"/>
          </a:xfrm>
        </p:spPr>
        <p:txBody>
          <a:bodyPr>
            <a:normAutofit fontScale="90000"/>
          </a:bodyPr>
          <a:lstStyle/>
          <a:p>
            <a:r>
              <a:rPr lang="es-ES" b="1" u="sng" dirty="0"/>
              <a:t>3. Simulación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4825" y="3799658"/>
            <a:ext cx="3753374" cy="33342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4988566"/>
            <a:ext cx="3982154" cy="32400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076" y="5695209"/>
            <a:ext cx="5877745" cy="866896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5"/>
          <a:stretch>
            <a:fillRect/>
          </a:stretch>
        </p:blipFill>
        <p:spPr>
          <a:xfrm>
            <a:off x="2791636" y="848228"/>
            <a:ext cx="5969185" cy="348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84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/>
          <a:srcRect r="24519"/>
          <a:stretch/>
        </p:blipFill>
        <p:spPr bwMode="auto">
          <a:xfrm>
            <a:off x="180877" y="182109"/>
            <a:ext cx="4643672" cy="35887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n 4"/>
          <p:cNvPicPr/>
          <p:nvPr/>
        </p:nvPicPr>
        <p:blipFill>
          <a:blip r:embed="rId3"/>
          <a:stretch>
            <a:fillRect/>
          </a:stretch>
        </p:blipFill>
        <p:spPr>
          <a:xfrm>
            <a:off x="4824548" y="140502"/>
            <a:ext cx="5259977" cy="3143250"/>
          </a:xfrm>
          <a:prstGeom prst="rect">
            <a:avLst/>
          </a:prstGeom>
        </p:spPr>
      </p:pic>
      <p:pic>
        <p:nvPicPr>
          <p:cNvPr id="6" name="Imagen 5"/>
          <p:cNvPicPr/>
          <p:nvPr/>
        </p:nvPicPr>
        <p:blipFill>
          <a:blip r:embed="rId4"/>
          <a:stretch>
            <a:fillRect/>
          </a:stretch>
        </p:blipFill>
        <p:spPr>
          <a:xfrm>
            <a:off x="2063931" y="3379967"/>
            <a:ext cx="4855278" cy="3349324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5"/>
          <a:stretch>
            <a:fillRect/>
          </a:stretch>
        </p:blipFill>
        <p:spPr>
          <a:xfrm>
            <a:off x="5562599" y="3325359"/>
            <a:ext cx="6376851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09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570" y="242725"/>
            <a:ext cx="6254447" cy="800742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96577" y="1172114"/>
            <a:ext cx="1837266" cy="57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2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2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Montaje</a:t>
            </a:r>
            <a:endParaRPr lang="es-E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96334" y="303461"/>
            <a:ext cx="4005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/>
              <a:t>Ajustes realizados tras   detectar errores</a:t>
            </a:r>
            <a:endParaRPr lang="es-ES" dirty="0"/>
          </a:p>
        </p:txBody>
      </p:sp>
      <p:pic>
        <p:nvPicPr>
          <p:cNvPr id="8" name="Imagen 7"/>
          <p:cNvPicPr/>
          <p:nvPr/>
        </p:nvPicPr>
        <p:blipFill>
          <a:blip r:embed="rId3"/>
          <a:stretch>
            <a:fillRect/>
          </a:stretch>
        </p:blipFill>
        <p:spPr>
          <a:xfrm rot="16200000">
            <a:off x="5108694" y="-17558"/>
            <a:ext cx="3316605" cy="584327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823396" y="3898423"/>
            <a:ext cx="8612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Consideraciones prácticas:</a:t>
            </a:r>
            <a:endParaRPr lang="es-ES" sz="16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Distribución ergonómica de pulsadores según estándar Braille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Uso de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protoboard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para conexiones temporales durante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pruebas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Reto principal: sincronización entre entrada táctil y respuesta visual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9963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19" y="1098883"/>
            <a:ext cx="1811383" cy="309260"/>
          </a:xfrm>
          <a:prstGeom prst="rect">
            <a:avLst/>
          </a:prstGeom>
        </p:spPr>
      </p:pic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0465" y="1892998"/>
            <a:ext cx="4499475" cy="397356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685800" y="533400"/>
            <a:ext cx="2057399" cy="457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Mediciones</a:t>
            </a:r>
            <a:endParaRPr lang="es-E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65" y="352399"/>
            <a:ext cx="3448531" cy="36200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465" y="1098883"/>
            <a:ext cx="3743847" cy="409632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543506" y="2808906"/>
            <a:ext cx="523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Comparación entre la </a:t>
            </a:r>
            <a:r>
              <a:rPr lang="es-ES" b="1" u="sng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simulacion</a:t>
            </a:r>
            <a:r>
              <a:rPr lang="es-E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 el circuito </a:t>
            </a:r>
            <a:r>
              <a:rPr lang="es-ES" b="1" u="sng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fisico</a:t>
            </a:r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7795" y="3502649"/>
            <a:ext cx="7117495" cy="306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9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950" y="1772195"/>
            <a:ext cx="7743742" cy="378387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931" y="842942"/>
            <a:ext cx="3315163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60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475" y="923969"/>
            <a:ext cx="5195593" cy="5639522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854088" y="240267"/>
            <a:ext cx="2533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Matriz 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 Consistencia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67" y="766783"/>
            <a:ext cx="5068007" cy="31436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498" y="240266"/>
            <a:ext cx="6043285" cy="64304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3744625" y="-82898"/>
            <a:ext cx="90928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b="1" u="sng" smtClean="0">
                <a:solidFill>
                  <a:srgbClr val="365F9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u="sng" dirty="0">
                <a:solidFill>
                  <a:srgbClr val="365F9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Anexo</a:t>
            </a:r>
            <a:r>
              <a:rPr lang="es-E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s-E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1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0896" y="1667051"/>
            <a:ext cx="1114581" cy="26673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3" y="87824"/>
            <a:ext cx="6402388" cy="359142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179" y="2174323"/>
            <a:ext cx="5553850" cy="39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54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333" y="854103"/>
            <a:ext cx="3381847" cy="198147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2548" y="1031150"/>
            <a:ext cx="895475" cy="20957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78" y="266663"/>
            <a:ext cx="1476581" cy="26673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69" y="651207"/>
            <a:ext cx="4172532" cy="282932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1" y="854103"/>
            <a:ext cx="790685" cy="23815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1727" y="1173235"/>
            <a:ext cx="2905530" cy="134321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014" y="754076"/>
            <a:ext cx="1343212" cy="21910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143" y="3891760"/>
            <a:ext cx="1524213" cy="136226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7537" y="3480527"/>
            <a:ext cx="1781424" cy="31436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446" y="3735350"/>
            <a:ext cx="1333686" cy="2124371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999" y="6116810"/>
            <a:ext cx="902092" cy="21695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3171" y="4423327"/>
            <a:ext cx="2429214" cy="221010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1756" y="3998136"/>
            <a:ext cx="163852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73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327" y="113212"/>
            <a:ext cx="10131425" cy="1456267"/>
          </a:xfrm>
        </p:spPr>
        <p:txBody>
          <a:bodyPr/>
          <a:lstStyle/>
          <a:p>
            <a:r>
              <a:rPr lang="es-ES" b="1" dirty="0"/>
              <a:t>DIAGRAMAS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12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63421" y="841345"/>
            <a:ext cx="9091069" cy="555011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27626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91588" y="223838"/>
            <a:ext cx="11852365" cy="6410325"/>
          </a:xfrm>
          <a:prstGeom prst="rect">
            <a:avLst/>
          </a:prstGeom>
          <a:ln/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04" y="609600"/>
            <a:ext cx="333421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23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092" y="705152"/>
            <a:ext cx="10131425" cy="53124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BIBLIOGRAFIAS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r>
              <a:rPr lang="es-ES" dirty="0"/>
              <a:t>-          Orna, D. A. (2019). Implementación de un sistema electrónico convertidor de texto a lenguaje Braille. Universidad Nacional Autónoma de Ecuador.</a:t>
            </a:r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r>
              <a:rPr lang="es-ES" dirty="0"/>
              <a:t>-          Fernández, J., González, M., &amp; Pérez, L. (2010). Anotador Braille Electrónico. 39JAIIO - Congreso Argentino de Informática.</a:t>
            </a:r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r>
              <a:rPr lang="es-ES" dirty="0"/>
              <a:t>-          IAMHABLE. (2024). ¿Qué son los teclados Braille y cómo funcionan? Recuperado de </a:t>
            </a:r>
            <a:r>
              <a:rPr lang="es-ES" u="sng" dirty="0">
                <a:hlinkClick r:id="rId2"/>
              </a:rPr>
              <a:t>https://www.iamhable.com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r>
              <a:rPr lang="es-ES" dirty="0"/>
              <a:t>-     Braille, L. (1829). Sistema de escritura para personas ciegas.</a:t>
            </a:r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r>
              <a:rPr lang="es-ES" dirty="0"/>
              <a:t>-          </a:t>
            </a:r>
            <a:r>
              <a:rPr lang="es-ES" dirty="0" err="1"/>
              <a:t>Discapnet</a:t>
            </a:r>
            <a:r>
              <a:rPr lang="es-ES" dirty="0"/>
              <a:t>. (s.f.). Conociendo el Braille: Definición y accesibilidad. Recuperado de </a:t>
            </a:r>
            <a:r>
              <a:rPr lang="es-ES" u="sng" dirty="0">
                <a:hlinkClick r:id="rId3"/>
              </a:rPr>
              <a:t>https://www.discapnet.es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5205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456" r="-456" b="11542"/>
          <a:stretch/>
        </p:blipFill>
        <p:spPr>
          <a:xfrm>
            <a:off x="309216" y="105086"/>
            <a:ext cx="5734533" cy="665069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58" y="245240"/>
            <a:ext cx="5707871" cy="65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94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b="7892"/>
          <a:stretch/>
        </p:blipFill>
        <p:spPr>
          <a:xfrm>
            <a:off x="296569" y="314993"/>
            <a:ext cx="6574494" cy="63122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920" y="1304123"/>
            <a:ext cx="4801270" cy="345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1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282" y="127351"/>
            <a:ext cx="5924335" cy="656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75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04110" y="1009953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8800" dirty="0" smtClean="0"/>
              <a:t>MUCHAS GRACIAS POR SU ATENCION</a:t>
            </a:r>
            <a:endParaRPr lang="es-ES" sz="8800" dirty="0"/>
          </a:p>
        </p:txBody>
      </p:sp>
    </p:spTree>
    <p:extLst>
      <p:ext uri="{BB962C8B-B14F-4D97-AF65-F5344CB8AC3E}">
        <p14:creationId xmlns:p14="http://schemas.microsoft.com/office/powerpoint/2010/main" val="143565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254</TotalTime>
  <Words>221</Words>
  <Application>Microsoft Office PowerPoint</Application>
  <PresentationFormat>Panorámica</PresentationFormat>
  <Paragraphs>99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Symbol</vt:lpstr>
      <vt:lpstr>Times New Roman</vt:lpstr>
      <vt:lpstr>Celestial</vt:lpstr>
      <vt:lpstr>Presentación de PowerPoint</vt:lpstr>
      <vt:lpstr>Presentación de PowerPoint</vt:lpstr>
      <vt:lpstr>Presentación de PowerPoint</vt:lpstr>
      <vt:lpstr> 2. Marco Teórico y Conceptual   Antecedentes  </vt:lpstr>
      <vt:lpstr>Presentación de PowerPoint</vt:lpstr>
      <vt:lpstr>3. Variables medibles: </vt:lpstr>
      <vt:lpstr>Presentación de PowerPoint</vt:lpstr>
      <vt:lpstr>Presentación de PowerPoint</vt:lpstr>
      <vt:lpstr>4. Metodología: </vt:lpstr>
      <vt:lpstr>5. METODOLOGÍA DEL DISEÑO ELECTRÓNICO </vt:lpstr>
      <vt:lpstr>Presentación de PowerPoint</vt:lpstr>
      <vt:lpstr>3. Simulación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DIAGRAMAS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αβταχαξ Ӷӷ</dc:creator>
  <cp:lastModifiedBy>αβταχαξ Ӷӷ</cp:lastModifiedBy>
  <cp:revision>15</cp:revision>
  <dcterms:created xsi:type="dcterms:W3CDTF">2025-06-21T15:25:22Z</dcterms:created>
  <dcterms:modified xsi:type="dcterms:W3CDTF">2025-06-21T19:39:40Z</dcterms:modified>
</cp:coreProperties>
</file>